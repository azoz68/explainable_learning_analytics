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0E19819-FDCB-4665-80D9-2A898EF12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086EB5FD-32A1-4378-9146-329FBA21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6AC44F3-4587-41D6-85CF-2F4907D0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08D7E0A-A9FF-40BF-B794-92A191DF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39E8C04-2444-4DDC-AC18-FD8CD8D1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5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7D72E49-B25E-46C7-BB22-F39EF842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0A7ACBD-B2F6-4454-B18C-F9B908333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3091B43-54FD-47FC-B4D2-8E156FD7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73AD1C2-5B0A-4CB9-9623-1E7C4A4B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D17D204-0A9C-40C4-9507-FAC48070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2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48EDF08-FF17-4C6F-A027-9F0A6EF9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E0E799F-E248-42EC-B671-970C9CCE7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720E6D8-5831-4EEF-886D-1FDD1449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DBB7A4A-1955-4B9B-8520-7D188C9F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AEAA045-C9C8-4063-8BC7-95977018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6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9D8D662-37FD-40FB-8BF9-9D6E3241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A1E6525-3CC8-4BDC-8FCB-89982E52E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A653403-7FC5-4995-905C-F03D4111D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72B81E7-BE13-424A-993D-28FACC27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1D74035-2A69-4F1B-A4B1-4C3325F5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53C01D9-B7CF-4BFA-8C25-D3B748BE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7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F1F81AE-E676-4E61-B6E4-B3396305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C905AAD-E546-433A-828D-25FC50AAA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EBF52A9-32B9-4C00-9209-9E23A4607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83E3C6B-74E1-4FE8-9E48-E88F4C775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77A7D478-9F49-4661-9890-0AC490A2D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FB275CD-EDEA-4472-B564-932B6BE2B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2F4D6E2-7FD0-4A0A-99ED-D5498F7F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F2994CD-315C-4D80-8345-A93032BF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6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9D0DB2C-CF46-42AC-AEBA-7E1CCEEC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929DE25-0712-466C-98C2-7BBB1047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097A582-E09B-4C69-8999-F9AA69AA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2431DE4-31C7-46B9-8B5E-06FD6B40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836047A-C855-4DDE-B58B-E1145BFE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A449CE55-97DC-49A0-8608-728AE752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942531A-94D1-4A98-9FAD-98BD8775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7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FCBE789-4CB8-463D-AF25-8EC7799A7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FB95EBA-25EC-4206-BCD1-9DB061473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372CA2D9-B0E3-40C3-B1BB-3A5393497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B9CBB09-9F51-4BEE-8539-1FFEF3A3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C951338-0C12-4F30-B836-7B95F0E1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3E12C20-94DF-4E4C-BEAB-4266A518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9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FA257D7-681E-41B6-AE15-21684048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E5263946-9D18-4EC0-820D-98EA1FCCD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9799F55-7ACC-4C02-953D-96B6A2785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394C2F2-0279-4A3F-8225-8A1902CB5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CEA3E2F-999D-4D37-8F3B-05DA70E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7CFEE50-F739-413A-99ED-9C189960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2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AA5809-7CA8-4348-9E87-02FF3C66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FC5B698-10FC-4471-9214-7548516CC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4504FBD-BE17-40F9-8F55-647A1FDE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A35484D-06D5-479E-8788-FB3BDABB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FFBF081-3013-41A9-AB69-C6A76A34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C8B2752C-FB78-49C1-8849-17D830C45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A0F23E2-E0B1-4B74-98DF-F52B015CF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C5392F9-E464-40F3-8ADE-ACE9B6D5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9707F13-A9AE-4C82-BC7A-55CDC205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9D607C7-F7F4-4D57-81CC-E5487457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E3E02C4D-F68A-4D1A-B9F0-FC19EA04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5CF2199-7983-4238-936B-9EDB5D4AC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466E4A8-4AE0-48AF-BF66-D67656D60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423B0-9FE8-4FB0-BDD7-7368BBCAE0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6CF24DD-39D2-41ED-B46C-03D1FF8A1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BAF30EE-1841-4186-AA08-A30C2F85F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04C9F-8872-4418-9255-26B1B93F5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8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عنصر نائب للمحتوى 4">
            <a:extLst>
              <a:ext uri="{FF2B5EF4-FFF2-40B4-BE49-F238E27FC236}">
                <a16:creationId xmlns:a16="http://schemas.microsoft.com/office/drawing/2014/main" id="{B3C49925-6129-4F8A-9F26-61A586F85FE6}"/>
              </a:ext>
            </a:extLst>
          </p:cNvPr>
          <p:cNvGrpSpPr/>
          <p:nvPr/>
        </p:nvGrpSpPr>
        <p:grpSpPr>
          <a:xfrm>
            <a:off x="786384" y="950976"/>
            <a:ext cx="11091919" cy="4389322"/>
            <a:chOff x="2307616" y="1929750"/>
            <a:chExt cx="7352987" cy="2581782"/>
          </a:xfrm>
        </p:grpSpPr>
        <p:sp>
          <p:nvSpPr>
            <p:cNvPr id="8" name="شكل حر: شكل 7">
              <a:extLst>
                <a:ext uri="{FF2B5EF4-FFF2-40B4-BE49-F238E27FC236}">
                  <a16:creationId xmlns:a16="http://schemas.microsoft.com/office/drawing/2014/main" id="{D3DE40F7-59D5-4DA1-BDFE-AE15CDA43E6A}"/>
                </a:ext>
              </a:extLst>
            </p:cNvPr>
            <p:cNvSpPr/>
            <p:nvPr/>
          </p:nvSpPr>
          <p:spPr>
            <a:xfrm>
              <a:off x="2311116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4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4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Preparation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شكل حر: شكل 8">
              <a:extLst>
                <a:ext uri="{FF2B5EF4-FFF2-40B4-BE49-F238E27FC236}">
                  <a16:creationId xmlns:a16="http://schemas.microsoft.com/office/drawing/2014/main" id="{2A1B249C-3A15-41D3-AD28-71462C2B0C45}"/>
                </a:ext>
              </a:extLst>
            </p:cNvPr>
            <p:cNvSpPr/>
            <p:nvPr/>
          </p:nvSpPr>
          <p:spPr>
            <a:xfrm>
              <a:off x="3562126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4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4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Engineering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شكل حر: شكل 9">
              <a:extLst>
                <a:ext uri="{FF2B5EF4-FFF2-40B4-BE49-F238E27FC236}">
                  <a16:creationId xmlns:a16="http://schemas.microsoft.com/office/drawing/2014/main" id="{B7EF09FC-08E4-496C-84DF-BF7157C39778}"/>
                </a:ext>
              </a:extLst>
            </p:cNvPr>
            <p:cNvSpPr/>
            <p:nvPr/>
          </p:nvSpPr>
          <p:spPr>
            <a:xfrm>
              <a:off x="4813136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4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4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Leakage Audit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شكل حر: شكل 10">
              <a:extLst>
                <a:ext uri="{FF2B5EF4-FFF2-40B4-BE49-F238E27FC236}">
                  <a16:creationId xmlns:a16="http://schemas.microsoft.com/office/drawing/2014/main" id="{449DD98D-6D8D-4F03-98ED-86069963C81F}"/>
                </a:ext>
              </a:extLst>
            </p:cNvPr>
            <p:cNvSpPr/>
            <p:nvPr/>
          </p:nvSpPr>
          <p:spPr>
            <a:xfrm>
              <a:off x="6064145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4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4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Predictive Modelling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شكل حر: شكل 11">
              <a:extLst>
                <a:ext uri="{FF2B5EF4-FFF2-40B4-BE49-F238E27FC236}">
                  <a16:creationId xmlns:a16="http://schemas.microsoft.com/office/drawing/2014/main" id="{63FF684F-3D08-4C3B-B43F-FA785584EFF8}"/>
                </a:ext>
              </a:extLst>
            </p:cNvPr>
            <p:cNvSpPr/>
            <p:nvPr/>
          </p:nvSpPr>
          <p:spPr>
            <a:xfrm>
              <a:off x="7315155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4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4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Explainability &amp; Evaluation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شكل حر: شكل 12">
              <a:extLst>
                <a:ext uri="{FF2B5EF4-FFF2-40B4-BE49-F238E27FC236}">
                  <a16:creationId xmlns:a16="http://schemas.microsoft.com/office/drawing/2014/main" id="{9001D0D3-D11B-4F36-92E7-45DFB90821C9}"/>
                </a:ext>
              </a:extLst>
            </p:cNvPr>
            <p:cNvSpPr/>
            <p:nvPr/>
          </p:nvSpPr>
          <p:spPr>
            <a:xfrm>
              <a:off x="8566165" y="1929750"/>
              <a:ext cx="1093274" cy="397060"/>
            </a:xfrm>
            <a:custGeom>
              <a:avLst/>
              <a:gdLst>
                <a:gd name="connsiteX0" fmla="*/ 961953 w 1093273"/>
                <a:gd name="connsiteY0" fmla="*/ 4659 h 397059"/>
                <a:gd name="connsiteX1" fmla="*/ 1092493 w 1093273"/>
                <a:gd name="connsiteY1" fmla="*/ 135199 h 397059"/>
                <a:gd name="connsiteX2" fmla="*/ 1092493 w 1093273"/>
                <a:gd name="connsiteY2" fmla="*/ 265739 h 397059"/>
                <a:gd name="connsiteX3" fmla="*/ 961953 w 1093273"/>
                <a:gd name="connsiteY3" fmla="*/ 396279 h 397059"/>
                <a:gd name="connsiteX4" fmla="*/ 135199 w 1093273"/>
                <a:gd name="connsiteY4" fmla="*/ 396279 h 397059"/>
                <a:gd name="connsiteX5" fmla="*/ 4659 w 1093273"/>
                <a:gd name="connsiteY5" fmla="*/ 265739 h 397059"/>
                <a:gd name="connsiteX6" fmla="*/ 4659 w 1093273"/>
                <a:gd name="connsiteY6" fmla="*/ 135199 h 397059"/>
                <a:gd name="connsiteX7" fmla="*/ 135199 w 1093273"/>
                <a:gd name="connsiteY7" fmla="*/ 4659 h 39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397059">
                  <a:moveTo>
                    <a:pt x="961953" y="4659"/>
                  </a:moveTo>
                  <a:cubicBezTo>
                    <a:pt x="1034049" y="4659"/>
                    <a:pt x="1092493" y="63104"/>
                    <a:pt x="1092493" y="135199"/>
                  </a:cubicBezTo>
                  <a:lnTo>
                    <a:pt x="1092493" y="265739"/>
                  </a:lnTo>
                  <a:cubicBezTo>
                    <a:pt x="1092493" y="337835"/>
                    <a:pt x="1034049" y="396279"/>
                    <a:pt x="961953" y="396279"/>
                  </a:cubicBezTo>
                  <a:lnTo>
                    <a:pt x="135199" y="396279"/>
                  </a:lnTo>
                  <a:cubicBezTo>
                    <a:pt x="63103" y="396279"/>
                    <a:pt x="4659" y="337835"/>
                    <a:pt x="4659" y="265739"/>
                  </a:cubicBezTo>
                  <a:lnTo>
                    <a:pt x="4659" y="135199"/>
                  </a:lnTo>
                  <a:cubicBezTo>
                    <a:pt x="4659" y="63104"/>
                    <a:pt x="63103" y="4659"/>
                    <a:pt x="135199" y="4659"/>
                  </a:cubicBezTo>
                  <a:close/>
                </a:path>
              </a:pathLst>
            </a:custGeom>
            <a:solidFill>
              <a:srgbClr val="DBDDE0"/>
            </a:solidFill>
            <a:ln w="10878" cap="flat">
              <a:solidFill>
                <a:srgbClr val="55555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&amp; Analysis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شكل حر: شكل 19">
              <a:extLst>
                <a:ext uri="{FF2B5EF4-FFF2-40B4-BE49-F238E27FC236}">
                  <a16:creationId xmlns:a16="http://schemas.microsoft.com/office/drawing/2014/main" id="{7D5F2BD8-6700-487F-A96B-00D3A6125520}"/>
                </a:ext>
              </a:extLst>
            </p:cNvPr>
            <p:cNvSpPr/>
            <p:nvPr/>
          </p:nvSpPr>
          <p:spPr>
            <a:xfrm>
              <a:off x="2307616" y="2752230"/>
              <a:ext cx="1104152" cy="870267"/>
            </a:xfrm>
            <a:custGeom>
              <a:avLst/>
              <a:gdLst>
                <a:gd name="connsiteX0" fmla="*/ 171334 w 1104152"/>
                <a:gd name="connsiteY0" fmla="*/ 8159 h 1294523"/>
                <a:gd name="connsiteX1" fmla="*/ 932818 w 1104152"/>
                <a:gd name="connsiteY1" fmla="*/ 8159 h 1294523"/>
                <a:gd name="connsiteX2" fmla="*/ 1095993 w 1104152"/>
                <a:gd name="connsiteY2" fmla="*/ 133260 h 1294523"/>
                <a:gd name="connsiteX3" fmla="*/ 1095993 w 1104152"/>
                <a:gd name="connsiteY3" fmla="*/ 1123189 h 1294523"/>
                <a:gd name="connsiteX4" fmla="*/ 552076 w 1104152"/>
                <a:gd name="connsiteY4" fmla="*/ 1286364 h 1294523"/>
                <a:gd name="connsiteX5" fmla="*/ 8159 w 1104152"/>
                <a:gd name="connsiteY5" fmla="*/ 1123189 h 1294523"/>
                <a:gd name="connsiteX6" fmla="*/ 8159 w 1104152"/>
                <a:gd name="connsiteY6" fmla="*/ 133260 h 129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4152" h="1294523">
                  <a:moveTo>
                    <a:pt x="171334" y="8159"/>
                  </a:moveTo>
                  <a:lnTo>
                    <a:pt x="932818" y="8159"/>
                  </a:lnTo>
                  <a:lnTo>
                    <a:pt x="1095993" y="133260"/>
                  </a:lnTo>
                  <a:lnTo>
                    <a:pt x="1095993" y="1123189"/>
                  </a:lnTo>
                  <a:lnTo>
                    <a:pt x="552076" y="1286364"/>
                  </a:lnTo>
                  <a:lnTo>
                    <a:pt x="8159" y="1123189"/>
                  </a:lnTo>
                  <a:lnTo>
                    <a:pt x="8159" y="13326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rgbClr val="55555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000" dirty="0"/>
            </a:p>
            <a:p>
              <a:endParaRPr lang="en-US" sz="1000" dirty="0"/>
            </a:p>
            <a:p>
              <a:endParaRPr lang="en-US" sz="1000" dirty="0"/>
            </a:p>
            <a:p>
              <a:pPr algn="ctr" rtl="0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VLE DATA</a:t>
              </a:r>
            </a:p>
          </p:txBody>
        </p:sp>
        <p:sp>
          <p:nvSpPr>
            <p:cNvPr id="21" name="شكل حر: شكل 20">
              <a:extLst>
                <a:ext uri="{FF2B5EF4-FFF2-40B4-BE49-F238E27FC236}">
                  <a16:creationId xmlns:a16="http://schemas.microsoft.com/office/drawing/2014/main" id="{43EB7063-5B89-4E32-A5A5-E6132493CA85}"/>
                </a:ext>
              </a:extLst>
            </p:cNvPr>
            <p:cNvSpPr/>
            <p:nvPr/>
          </p:nvSpPr>
          <p:spPr>
            <a:xfrm>
              <a:off x="2637230" y="2837855"/>
              <a:ext cx="440573" cy="92466"/>
            </a:xfrm>
            <a:custGeom>
              <a:avLst/>
              <a:gdLst>
                <a:gd name="connsiteX0" fmla="*/ 440029 w 440572"/>
                <a:gd name="connsiteY0" fmla="*/ 48409 h 92465"/>
                <a:gd name="connsiteX1" fmla="*/ 222462 w 440572"/>
                <a:gd name="connsiteY1" fmla="*/ 91922 h 92465"/>
                <a:gd name="connsiteX2" fmla="*/ 4895 w 440572"/>
                <a:gd name="connsiteY2" fmla="*/ 48409 h 92465"/>
                <a:gd name="connsiteX3" fmla="*/ 222462 w 440572"/>
                <a:gd name="connsiteY3" fmla="*/ 4895 h 92465"/>
                <a:gd name="connsiteX4" fmla="*/ 440029 w 440572"/>
                <a:gd name="connsiteY4" fmla="*/ 48409 h 9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572" h="92465">
                  <a:moveTo>
                    <a:pt x="440029" y="48409"/>
                  </a:moveTo>
                  <a:cubicBezTo>
                    <a:pt x="440029" y="72440"/>
                    <a:pt x="342621" y="91922"/>
                    <a:pt x="222462" y="91922"/>
                  </a:cubicBezTo>
                  <a:cubicBezTo>
                    <a:pt x="102303" y="91922"/>
                    <a:pt x="4895" y="72440"/>
                    <a:pt x="4895" y="48409"/>
                  </a:cubicBezTo>
                  <a:cubicBezTo>
                    <a:pt x="4895" y="24377"/>
                    <a:pt x="102303" y="4895"/>
                    <a:pt x="222462" y="4895"/>
                  </a:cubicBezTo>
                  <a:cubicBezTo>
                    <a:pt x="342621" y="4895"/>
                    <a:pt x="440029" y="24377"/>
                    <a:pt x="440029" y="48409"/>
                  </a:cubicBezTo>
                  <a:close/>
                </a:path>
              </a:pathLst>
            </a:custGeom>
            <a:solidFill>
              <a:srgbClr val="5B7BB5"/>
            </a:solidFill>
            <a:ln w="11430" cap="flat">
              <a:solidFill>
                <a:srgbClr val="37528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شكل حر: شكل 21">
              <a:extLst>
                <a:ext uri="{FF2B5EF4-FFF2-40B4-BE49-F238E27FC236}">
                  <a16:creationId xmlns:a16="http://schemas.microsoft.com/office/drawing/2014/main" id="{B7243083-7685-449F-9A90-5BCF3B5F25E8}"/>
                </a:ext>
              </a:extLst>
            </p:cNvPr>
            <p:cNvSpPr/>
            <p:nvPr/>
          </p:nvSpPr>
          <p:spPr>
            <a:xfrm>
              <a:off x="2637230" y="2881368"/>
              <a:ext cx="440573" cy="201249"/>
            </a:xfrm>
            <a:custGeom>
              <a:avLst/>
              <a:gdLst>
                <a:gd name="connsiteX0" fmla="*/ 4895 w 440572"/>
                <a:gd name="connsiteY0" fmla="*/ 4895 h 201249"/>
                <a:gd name="connsiteX1" fmla="*/ 4895 w 440572"/>
                <a:gd name="connsiteY1" fmla="*/ 157192 h 201249"/>
                <a:gd name="connsiteX2" fmla="*/ 222462 w 440572"/>
                <a:gd name="connsiteY2" fmla="*/ 200705 h 201249"/>
                <a:gd name="connsiteX3" fmla="*/ 440029 w 440572"/>
                <a:gd name="connsiteY3" fmla="*/ 157192 h 201249"/>
                <a:gd name="connsiteX4" fmla="*/ 440029 w 440572"/>
                <a:gd name="connsiteY4" fmla="*/ 4895 h 20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572" h="201249">
                  <a:moveTo>
                    <a:pt x="4895" y="4895"/>
                  </a:moveTo>
                  <a:lnTo>
                    <a:pt x="4895" y="157192"/>
                  </a:lnTo>
                  <a:cubicBezTo>
                    <a:pt x="4895" y="186201"/>
                    <a:pt x="77418" y="200705"/>
                    <a:pt x="222462" y="200705"/>
                  </a:cubicBezTo>
                  <a:cubicBezTo>
                    <a:pt x="367507" y="200705"/>
                    <a:pt x="440029" y="186201"/>
                    <a:pt x="440029" y="157192"/>
                  </a:cubicBezTo>
                  <a:lnTo>
                    <a:pt x="440029" y="4895"/>
                  </a:lnTo>
                </a:path>
              </a:pathLst>
            </a:custGeom>
            <a:solidFill>
              <a:srgbClr val="5B7BB5"/>
            </a:solidFill>
            <a:ln w="11430" cap="flat">
              <a:solidFill>
                <a:srgbClr val="37528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شكل حر: شكل 22">
              <a:extLst>
                <a:ext uri="{FF2B5EF4-FFF2-40B4-BE49-F238E27FC236}">
                  <a16:creationId xmlns:a16="http://schemas.microsoft.com/office/drawing/2014/main" id="{8621E505-DA67-4160-AD18-5D5C27D0FF42}"/>
                </a:ext>
              </a:extLst>
            </p:cNvPr>
            <p:cNvSpPr/>
            <p:nvPr/>
          </p:nvSpPr>
          <p:spPr>
            <a:xfrm>
              <a:off x="2637230" y="2990152"/>
              <a:ext cx="440573" cy="92466"/>
            </a:xfrm>
            <a:custGeom>
              <a:avLst/>
              <a:gdLst>
                <a:gd name="connsiteX0" fmla="*/ 440029 w 440572"/>
                <a:gd name="connsiteY0" fmla="*/ 48409 h 92465"/>
                <a:gd name="connsiteX1" fmla="*/ 222462 w 440572"/>
                <a:gd name="connsiteY1" fmla="*/ 91922 h 92465"/>
                <a:gd name="connsiteX2" fmla="*/ 4895 w 440572"/>
                <a:gd name="connsiteY2" fmla="*/ 48409 h 92465"/>
                <a:gd name="connsiteX3" fmla="*/ 222462 w 440572"/>
                <a:gd name="connsiteY3" fmla="*/ 4895 h 92465"/>
                <a:gd name="connsiteX4" fmla="*/ 440029 w 440572"/>
                <a:gd name="connsiteY4" fmla="*/ 48409 h 9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572" h="92465">
                  <a:moveTo>
                    <a:pt x="440029" y="48409"/>
                  </a:moveTo>
                  <a:cubicBezTo>
                    <a:pt x="440029" y="72440"/>
                    <a:pt x="342621" y="91922"/>
                    <a:pt x="222462" y="91922"/>
                  </a:cubicBezTo>
                  <a:cubicBezTo>
                    <a:pt x="102303" y="91922"/>
                    <a:pt x="4895" y="72440"/>
                    <a:pt x="4895" y="48409"/>
                  </a:cubicBezTo>
                  <a:cubicBezTo>
                    <a:pt x="4895" y="24377"/>
                    <a:pt x="102303" y="4895"/>
                    <a:pt x="222462" y="4895"/>
                  </a:cubicBezTo>
                  <a:cubicBezTo>
                    <a:pt x="342621" y="4895"/>
                    <a:pt x="440029" y="24377"/>
                    <a:pt x="440029" y="48409"/>
                  </a:cubicBezTo>
                  <a:close/>
                </a:path>
              </a:pathLst>
            </a:custGeom>
            <a:noFill/>
            <a:ln w="11430" cap="flat">
              <a:solidFill>
                <a:srgbClr val="37528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شكل حر: شكل 23">
              <a:extLst>
                <a:ext uri="{FF2B5EF4-FFF2-40B4-BE49-F238E27FC236}">
                  <a16:creationId xmlns:a16="http://schemas.microsoft.com/office/drawing/2014/main" id="{C2BDC675-E342-469E-8154-350EC08626B5}"/>
                </a:ext>
              </a:extLst>
            </p:cNvPr>
            <p:cNvSpPr/>
            <p:nvPr/>
          </p:nvSpPr>
          <p:spPr>
            <a:xfrm>
              <a:off x="2637230" y="2914003"/>
              <a:ext cx="440573" cy="92466"/>
            </a:xfrm>
            <a:custGeom>
              <a:avLst/>
              <a:gdLst>
                <a:gd name="connsiteX0" fmla="*/ 440029 w 440572"/>
                <a:gd name="connsiteY0" fmla="*/ 48409 h 92465"/>
                <a:gd name="connsiteX1" fmla="*/ 222462 w 440572"/>
                <a:gd name="connsiteY1" fmla="*/ 91922 h 92465"/>
                <a:gd name="connsiteX2" fmla="*/ 4895 w 440572"/>
                <a:gd name="connsiteY2" fmla="*/ 48409 h 92465"/>
                <a:gd name="connsiteX3" fmla="*/ 222462 w 440572"/>
                <a:gd name="connsiteY3" fmla="*/ 4895 h 92465"/>
                <a:gd name="connsiteX4" fmla="*/ 440029 w 440572"/>
                <a:gd name="connsiteY4" fmla="*/ 48409 h 9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572" h="92465">
                  <a:moveTo>
                    <a:pt x="440029" y="48409"/>
                  </a:moveTo>
                  <a:cubicBezTo>
                    <a:pt x="440029" y="72440"/>
                    <a:pt x="342621" y="91922"/>
                    <a:pt x="222462" y="91922"/>
                  </a:cubicBezTo>
                  <a:cubicBezTo>
                    <a:pt x="102303" y="91922"/>
                    <a:pt x="4895" y="72440"/>
                    <a:pt x="4895" y="48409"/>
                  </a:cubicBezTo>
                  <a:cubicBezTo>
                    <a:pt x="4895" y="24377"/>
                    <a:pt x="102303" y="4895"/>
                    <a:pt x="222462" y="4895"/>
                  </a:cubicBezTo>
                  <a:cubicBezTo>
                    <a:pt x="342621" y="4895"/>
                    <a:pt x="440029" y="24377"/>
                    <a:pt x="440029" y="48409"/>
                  </a:cubicBezTo>
                  <a:close/>
                </a:path>
              </a:pathLst>
            </a:custGeom>
            <a:noFill/>
            <a:ln w="11430" cap="flat">
              <a:solidFill>
                <a:srgbClr val="37528A"/>
              </a:solidFill>
              <a:custDash>
                <a:ds d="150000" sp="150000"/>
              </a:custDash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شكل حر: شكل 24">
              <a:extLst>
                <a:ext uri="{FF2B5EF4-FFF2-40B4-BE49-F238E27FC236}">
                  <a16:creationId xmlns:a16="http://schemas.microsoft.com/office/drawing/2014/main" id="{35740002-9F1D-4CB3-8001-A53A2CDA5372}"/>
                </a:ext>
              </a:extLst>
            </p:cNvPr>
            <p:cNvSpPr/>
            <p:nvPr/>
          </p:nvSpPr>
          <p:spPr>
            <a:xfrm>
              <a:off x="3094257" y="2886944"/>
              <a:ext cx="65270" cy="190371"/>
            </a:xfrm>
            <a:custGeom>
              <a:avLst/>
              <a:gdLst>
                <a:gd name="connsiteX0" fmla="*/ 10198 w 65270"/>
                <a:gd name="connsiteY0" fmla="*/ 10198 h 190371"/>
                <a:gd name="connsiteX1" fmla="*/ 10198 w 65270"/>
                <a:gd name="connsiteY1" fmla="*/ 184252 h 19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270" h="190371">
                  <a:moveTo>
                    <a:pt x="10198" y="10198"/>
                  </a:moveTo>
                  <a:cubicBezTo>
                    <a:pt x="75469" y="68216"/>
                    <a:pt x="75469" y="126234"/>
                    <a:pt x="10198" y="184252"/>
                  </a:cubicBezTo>
                </a:path>
              </a:pathLst>
            </a:custGeom>
            <a:noFill/>
            <a:ln w="23813" cap="flat">
              <a:solidFill>
                <a:srgbClr val="E67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شكل حر: شكل 25">
              <a:extLst>
                <a:ext uri="{FF2B5EF4-FFF2-40B4-BE49-F238E27FC236}">
                  <a16:creationId xmlns:a16="http://schemas.microsoft.com/office/drawing/2014/main" id="{2BA3625C-80E8-4194-8AF0-E39F722B7328}"/>
                </a:ext>
              </a:extLst>
            </p:cNvPr>
            <p:cNvSpPr/>
            <p:nvPr/>
          </p:nvSpPr>
          <p:spPr>
            <a:xfrm>
              <a:off x="2555779" y="2886944"/>
              <a:ext cx="65270" cy="190371"/>
            </a:xfrm>
            <a:custGeom>
              <a:avLst/>
              <a:gdLst>
                <a:gd name="connsiteX0" fmla="*/ 59151 w 65270"/>
                <a:gd name="connsiteY0" fmla="*/ 184252 h 190371"/>
                <a:gd name="connsiteX1" fmla="*/ 59151 w 65270"/>
                <a:gd name="connsiteY1" fmla="*/ 10198 h 19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270" h="190371">
                  <a:moveTo>
                    <a:pt x="59151" y="184252"/>
                  </a:moveTo>
                  <a:cubicBezTo>
                    <a:pt x="-6119" y="126234"/>
                    <a:pt x="-6119" y="68216"/>
                    <a:pt x="59151" y="10198"/>
                  </a:cubicBezTo>
                </a:path>
              </a:pathLst>
            </a:custGeom>
            <a:noFill/>
            <a:ln w="23813" cap="flat">
              <a:solidFill>
                <a:srgbClr val="E67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شكل حر: شكل 26">
              <a:extLst>
                <a:ext uri="{FF2B5EF4-FFF2-40B4-BE49-F238E27FC236}">
                  <a16:creationId xmlns:a16="http://schemas.microsoft.com/office/drawing/2014/main" id="{3754D3CC-0917-4026-9EB8-0DC90FAB66F6}"/>
                </a:ext>
              </a:extLst>
            </p:cNvPr>
            <p:cNvSpPr/>
            <p:nvPr/>
          </p:nvSpPr>
          <p:spPr>
            <a:xfrm>
              <a:off x="3563291" y="2474832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D2E4F4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 behavioural signatures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شكل حر: شكل 27">
              <a:extLst>
                <a:ext uri="{FF2B5EF4-FFF2-40B4-BE49-F238E27FC236}">
                  <a16:creationId xmlns:a16="http://schemas.microsoft.com/office/drawing/2014/main" id="{6717AF6E-8635-49D9-BA45-5546804801B5}"/>
                </a:ext>
              </a:extLst>
            </p:cNvPr>
            <p:cNvSpPr/>
            <p:nvPr/>
          </p:nvSpPr>
          <p:spPr>
            <a:xfrm>
              <a:off x="4814300" y="2474832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D2E4F4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Feature–Label Leakage</a:t>
              </a:r>
            </a:p>
          </p:txBody>
        </p:sp>
        <p:sp>
          <p:nvSpPr>
            <p:cNvPr id="29" name="شكل حر: شكل 28">
              <a:extLst>
                <a:ext uri="{FF2B5EF4-FFF2-40B4-BE49-F238E27FC236}">
                  <a16:creationId xmlns:a16="http://schemas.microsoft.com/office/drawing/2014/main" id="{FEA4B601-3D7D-44BB-8DC6-C6C247533334}"/>
                </a:ext>
              </a:extLst>
            </p:cNvPr>
            <p:cNvSpPr/>
            <p:nvPr/>
          </p:nvSpPr>
          <p:spPr>
            <a:xfrm>
              <a:off x="6065310" y="2474832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D2E4F4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XGBoost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شكل حر: شكل 29">
              <a:extLst>
                <a:ext uri="{FF2B5EF4-FFF2-40B4-BE49-F238E27FC236}">
                  <a16:creationId xmlns:a16="http://schemas.microsoft.com/office/drawing/2014/main" id="{0D30EDD1-3D1B-411F-9D89-61CC596E8921}"/>
                </a:ext>
              </a:extLst>
            </p:cNvPr>
            <p:cNvSpPr/>
            <p:nvPr/>
          </p:nvSpPr>
          <p:spPr>
            <a:xfrm>
              <a:off x="7316320" y="2474832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D2E4F4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SHAP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شكل حر: شكل 30">
              <a:extLst>
                <a:ext uri="{FF2B5EF4-FFF2-40B4-BE49-F238E27FC236}">
                  <a16:creationId xmlns:a16="http://schemas.microsoft.com/office/drawing/2014/main" id="{900936C4-DCCA-47A8-B9CF-7F539B402F45}"/>
                </a:ext>
              </a:extLst>
            </p:cNvPr>
            <p:cNvSpPr/>
            <p:nvPr/>
          </p:nvSpPr>
          <p:spPr>
            <a:xfrm>
              <a:off x="8567329" y="2474832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E8E1F4"/>
            </a:solidFill>
            <a:ln w="8159" cap="flat">
              <a:solidFill>
                <a:srgbClr val="7867A8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Evaluate Model Performance</a:t>
              </a:r>
            </a:p>
          </p:txBody>
        </p:sp>
        <p:sp>
          <p:nvSpPr>
            <p:cNvPr id="37" name="شكل حر: شكل 36">
              <a:extLst>
                <a:ext uri="{FF2B5EF4-FFF2-40B4-BE49-F238E27FC236}">
                  <a16:creationId xmlns:a16="http://schemas.microsoft.com/office/drawing/2014/main" id="{1B6B0705-FAA7-4DC5-8B05-AF2B155DEC21}"/>
                </a:ext>
              </a:extLst>
            </p:cNvPr>
            <p:cNvSpPr/>
            <p:nvPr/>
          </p:nvSpPr>
          <p:spPr>
            <a:xfrm>
              <a:off x="3563291" y="2909965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A8C5E5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Entropy-based engagement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شكل حر: شكل 37">
              <a:extLst>
                <a:ext uri="{FF2B5EF4-FFF2-40B4-BE49-F238E27FC236}">
                  <a16:creationId xmlns:a16="http://schemas.microsoft.com/office/drawing/2014/main" id="{7DE6FE81-5098-4B03-8276-CCC7FCF5D1E3}"/>
                </a:ext>
              </a:extLst>
            </p:cNvPr>
            <p:cNvSpPr/>
            <p:nvPr/>
          </p:nvSpPr>
          <p:spPr>
            <a:xfrm>
              <a:off x="4814300" y="2909965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A8C5E5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 Cutoff</a:t>
              </a:r>
            </a:p>
          </p:txBody>
        </p:sp>
        <p:sp>
          <p:nvSpPr>
            <p:cNvPr id="39" name="شكل حر: شكل 38">
              <a:extLst>
                <a:ext uri="{FF2B5EF4-FFF2-40B4-BE49-F238E27FC236}">
                  <a16:creationId xmlns:a16="http://schemas.microsoft.com/office/drawing/2014/main" id="{25FE3EC3-CAFA-45A0-B18E-9766A56750BD}"/>
                </a:ext>
              </a:extLst>
            </p:cNvPr>
            <p:cNvSpPr/>
            <p:nvPr/>
          </p:nvSpPr>
          <p:spPr>
            <a:xfrm>
              <a:off x="6065310" y="2909965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A8C5E5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 Forest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شكل حر: شكل 39">
              <a:extLst>
                <a:ext uri="{FF2B5EF4-FFF2-40B4-BE49-F238E27FC236}">
                  <a16:creationId xmlns:a16="http://schemas.microsoft.com/office/drawing/2014/main" id="{4F250355-3198-4A14-B7CD-7D8A0C0764FB}"/>
                </a:ext>
              </a:extLst>
            </p:cNvPr>
            <p:cNvSpPr/>
            <p:nvPr/>
          </p:nvSpPr>
          <p:spPr>
            <a:xfrm>
              <a:off x="7316320" y="2909965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A8C5E5"/>
            </a:solidFill>
            <a:ln w="8159" cap="flat">
              <a:solidFill>
                <a:srgbClr val="4F6FA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شكل حر: شكل 40">
              <a:extLst>
                <a:ext uri="{FF2B5EF4-FFF2-40B4-BE49-F238E27FC236}">
                  <a16:creationId xmlns:a16="http://schemas.microsoft.com/office/drawing/2014/main" id="{D289CC1C-CFFB-41BB-A8F2-E163301A9086}"/>
                </a:ext>
              </a:extLst>
            </p:cNvPr>
            <p:cNvSpPr/>
            <p:nvPr/>
          </p:nvSpPr>
          <p:spPr>
            <a:xfrm>
              <a:off x="8567329" y="2909965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E8E1F4"/>
            </a:solidFill>
            <a:ln w="8159" cap="flat">
              <a:solidFill>
                <a:srgbClr val="7867A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 Window Analysis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شكل حر: شكل 46">
              <a:extLst>
                <a:ext uri="{FF2B5EF4-FFF2-40B4-BE49-F238E27FC236}">
                  <a16:creationId xmlns:a16="http://schemas.microsoft.com/office/drawing/2014/main" id="{32DC17DD-D372-493B-B909-22F349AA6426}"/>
                </a:ext>
              </a:extLst>
            </p:cNvPr>
            <p:cNvSpPr/>
            <p:nvPr/>
          </p:nvSpPr>
          <p:spPr>
            <a:xfrm>
              <a:off x="3563291" y="3345099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8159" cap="flat">
              <a:solidFill>
                <a:srgbClr val="A14878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Composite indices </a:t>
              </a:r>
            </a:p>
            <a:p>
              <a:pPr algn="ctr" rtl="0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(CBII, TPI)</a:t>
              </a:r>
            </a:p>
          </p:txBody>
        </p:sp>
        <p:sp>
          <p:nvSpPr>
            <p:cNvPr id="48" name="شكل حر: شكل 47">
              <a:extLst>
                <a:ext uri="{FF2B5EF4-FFF2-40B4-BE49-F238E27FC236}">
                  <a16:creationId xmlns:a16="http://schemas.microsoft.com/office/drawing/2014/main" id="{7E7A74A5-5B0B-4EB2-94CE-1D5C0C9919AE}"/>
                </a:ext>
              </a:extLst>
            </p:cNvPr>
            <p:cNvSpPr/>
            <p:nvPr/>
          </p:nvSpPr>
          <p:spPr>
            <a:xfrm>
              <a:off x="4814300" y="3345099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8159" cap="flat">
              <a:solidFill>
                <a:srgbClr val="A1487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 &amp; Preprocessing</a:t>
              </a:r>
            </a:p>
          </p:txBody>
        </p:sp>
        <p:sp>
          <p:nvSpPr>
            <p:cNvPr id="49" name="شكل حر: شكل 48">
              <a:extLst>
                <a:ext uri="{FF2B5EF4-FFF2-40B4-BE49-F238E27FC236}">
                  <a16:creationId xmlns:a16="http://schemas.microsoft.com/office/drawing/2014/main" id="{042A45C9-085E-41E7-8205-3077B3522E9A}"/>
                </a:ext>
              </a:extLst>
            </p:cNvPr>
            <p:cNvSpPr/>
            <p:nvPr/>
          </p:nvSpPr>
          <p:spPr>
            <a:xfrm>
              <a:off x="6065310" y="3345099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8159" cap="flat">
              <a:solidFill>
                <a:srgbClr val="A1487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Logistic Regression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شكل حر: شكل 49">
              <a:extLst>
                <a:ext uri="{FF2B5EF4-FFF2-40B4-BE49-F238E27FC236}">
                  <a16:creationId xmlns:a16="http://schemas.microsoft.com/office/drawing/2014/main" id="{004E5C83-BD05-423E-A7AE-0A9320F8957C}"/>
                </a:ext>
              </a:extLst>
            </p:cNvPr>
            <p:cNvSpPr/>
            <p:nvPr/>
          </p:nvSpPr>
          <p:spPr>
            <a:xfrm>
              <a:off x="7316320" y="3345099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8159" cap="flat">
              <a:solidFill>
                <a:srgbClr val="A1487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Adaptive Fidelity-Weighted Hybrid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شكل حر: شكل 50">
              <a:extLst>
                <a:ext uri="{FF2B5EF4-FFF2-40B4-BE49-F238E27FC236}">
                  <a16:creationId xmlns:a16="http://schemas.microsoft.com/office/drawing/2014/main" id="{B0E666D2-A87C-406F-9725-821FC18DE781}"/>
                </a:ext>
              </a:extLst>
            </p:cNvPr>
            <p:cNvSpPr/>
            <p:nvPr/>
          </p:nvSpPr>
          <p:spPr>
            <a:xfrm>
              <a:off x="8567329" y="3345099"/>
              <a:ext cx="1093274" cy="277398"/>
            </a:xfrm>
            <a:custGeom>
              <a:avLst/>
              <a:gdLst>
                <a:gd name="connsiteX0" fmla="*/ 1015180 w 1093273"/>
                <a:gd name="connsiteY0" fmla="*/ 3494 h 277397"/>
                <a:gd name="connsiteX1" fmla="*/ 1091329 w 1093273"/>
                <a:gd name="connsiteY1" fmla="*/ 79643 h 277397"/>
                <a:gd name="connsiteX2" fmla="*/ 1091329 w 1093273"/>
                <a:gd name="connsiteY2" fmla="*/ 199304 h 277397"/>
                <a:gd name="connsiteX3" fmla="*/ 1015180 w 1093273"/>
                <a:gd name="connsiteY3" fmla="*/ 275453 h 277397"/>
                <a:gd name="connsiteX4" fmla="*/ 79643 w 1093273"/>
                <a:gd name="connsiteY4" fmla="*/ 275453 h 277397"/>
                <a:gd name="connsiteX5" fmla="*/ 3494 w 1093273"/>
                <a:gd name="connsiteY5" fmla="*/ 199304 h 277397"/>
                <a:gd name="connsiteX6" fmla="*/ 3494 w 1093273"/>
                <a:gd name="connsiteY6" fmla="*/ 79643 h 277397"/>
                <a:gd name="connsiteX7" fmla="*/ 79643 w 1093273"/>
                <a:gd name="connsiteY7" fmla="*/ 3494 h 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273" h="277397">
                  <a:moveTo>
                    <a:pt x="1015180" y="3494"/>
                  </a:moveTo>
                  <a:cubicBezTo>
                    <a:pt x="1057236" y="3494"/>
                    <a:pt x="1091329" y="37587"/>
                    <a:pt x="1091329" y="79643"/>
                  </a:cubicBezTo>
                  <a:lnTo>
                    <a:pt x="1091329" y="199304"/>
                  </a:lnTo>
                  <a:cubicBezTo>
                    <a:pt x="1091329" y="241360"/>
                    <a:pt x="1057236" y="275453"/>
                    <a:pt x="1015180" y="275453"/>
                  </a:cubicBezTo>
                  <a:lnTo>
                    <a:pt x="79643" y="275453"/>
                  </a:lnTo>
                  <a:cubicBezTo>
                    <a:pt x="37587" y="275453"/>
                    <a:pt x="3494" y="241360"/>
                    <a:pt x="3494" y="199304"/>
                  </a:cubicBezTo>
                  <a:lnTo>
                    <a:pt x="3494" y="79643"/>
                  </a:lnTo>
                  <a:cubicBezTo>
                    <a:pt x="3494" y="37587"/>
                    <a:pt x="37587" y="3494"/>
                    <a:pt x="79643" y="3494"/>
                  </a:cubicBezTo>
                  <a:close/>
                </a:path>
              </a:pathLst>
            </a:custGeom>
            <a:solidFill>
              <a:srgbClr val="E8E1F4"/>
            </a:solidFill>
            <a:ln w="8159" cap="flat">
              <a:solidFill>
                <a:srgbClr val="7867A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Pedagogical insights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شكل حر: شكل 56">
              <a:extLst>
                <a:ext uri="{FF2B5EF4-FFF2-40B4-BE49-F238E27FC236}">
                  <a16:creationId xmlns:a16="http://schemas.microsoft.com/office/drawing/2014/main" id="{EA37EEC1-51EA-4BA3-BF7E-6F6376FD6B46}"/>
                </a:ext>
              </a:extLst>
            </p:cNvPr>
            <p:cNvSpPr/>
            <p:nvPr/>
          </p:nvSpPr>
          <p:spPr>
            <a:xfrm>
              <a:off x="6591745" y="3675724"/>
              <a:ext cx="48953" cy="43513"/>
            </a:xfrm>
            <a:custGeom>
              <a:avLst/>
              <a:gdLst>
                <a:gd name="connsiteX0" fmla="*/ 4659 w 48952"/>
                <a:gd name="connsiteY0" fmla="*/ 15537 h 43513"/>
                <a:gd name="connsiteX1" fmla="*/ 26416 w 48952"/>
                <a:gd name="connsiteY1" fmla="*/ 42733 h 43513"/>
                <a:gd name="connsiteX2" fmla="*/ 48172 w 48952"/>
                <a:gd name="connsiteY2" fmla="*/ 4659 h 43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952" h="43513">
                  <a:moveTo>
                    <a:pt x="4659" y="15537"/>
                  </a:moveTo>
                  <a:lnTo>
                    <a:pt x="26416" y="42733"/>
                  </a:lnTo>
                  <a:lnTo>
                    <a:pt x="48172" y="4659"/>
                  </a:lnTo>
                </a:path>
              </a:pathLst>
            </a:custGeom>
            <a:noFill/>
            <a:ln w="108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شكل حر: شكل 59">
              <a:extLst>
                <a:ext uri="{FF2B5EF4-FFF2-40B4-BE49-F238E27FC236}">
                  <a16:creationId xmlns:a16="http://schemas.microsoft.com/office/drawing/2014/main" id="{066D1049-8906-4946-82DD-CC1A5251D936}"/>
                </a:ext>
              </a:extLst>
            </p:cNvPr>
            <p:cNvSpPr/>
            <p:nvPr/>
          </p:nvSpPr>
          <p:spPr>
            <a:xfrm>
              <a:off x="7842755" y="3675724"/>
              <a:ext cx="48953" cy="43513"/>
            </a:xfrm>
            <a:custGeom>
              <a:avLst/>
              <a:gdLst>
                <a:gd name="connsiteX0" fmla="*/ 4659 w 48952"/>
                <a:gd name="connsiteY0" fmla="*/ 15537 h 43513"/>
                <a:gd name="connsiteX1" fmla="*/ 26416 w 48952"/>
                <a:gd name="connsiteY1" fmla="*/ 42733 h 43513"/>
                <a:gd name="connsiteX2" fmla="*/ 48172 w 48952"/>
                <a:gd name="connsiteY2" fmla="*/ 4659 h 43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952" h="43513">
                  <a:moveTo>
                    <a:pt x="4659" y="15537"/>
                  </a:moveTo>
                  <a:lnTo>
                    <a:pt x="26416" y="42733"/>
                  </a:lnTo>
                  <a:lnTo>
                    <a:pt x="48172" y="4659"/>
                  </a:lnTo>
                </a:path>
              </a:pathLst>
            </a:custGeom>
            <a:noFill/>
            <a:ln w="108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مستطيل: زوايا مستديرة 60">
              <a:extLst>
                <a:ext uri="{FF2B5EF4-FFF2-40B4-BE49-F238E27FC236}">
                  <a16:creationId xmlns:a16="http://schemas.microsoft.com/office/drawing/2014/main" id="{D5930D60-023E-4901-974E-74D03F1DEF32}"/>
                </a:ext>
              </a:extLst>
            </p:cNvPr>
            <p:cNvSpPr/>
            <p:nvPr/>
          </p:nvSpPr>
          <p:spPr>
            <a:xfrm>
              <a:off x="3816033" y="4060760"/>
              <a:ext cx="4342897" cy="450772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3598" cap="flat">
              <a:solidFill>
                <a:srgbClr val="2C2256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Temporal-Behavioral Transformer (HTBT)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شكل حر: شكل 61">
              <a:extLst>
                <a:ext uri="{FF2B5EF4-FFF2-40B4-BE49-F238E27FC236}">
                  <a16:creationId xmlns:a16="http://schemas.microsoft.com/office/drawing/2014/main" id="{9E5CE080-2670-4CB0-A97A-C07699FF8609}"/>
                </a:ext>
              </a:extLst>
            </p:cNvPr>
            <p:cNvSpPr/>
            <p:nvPr/>
          </p:nvSpPr>
          <p:spPr>
            <a:xfrm>
              <a:off x="2365271" y="4133849"/>
              <a:ext cx="984490" cy="304594"/>
            </a:xfrm>
            <a:custGeom>
              <a:avLst/>
              <a:gdLst>
                <a:gd name="connsiteX0" fmla="*/ 928154 w 984490"/>
                <a:gd name="connsiteY0" fmla="*/ 3494 h 304593"/>
                <a:gd name="connsiteX1" fmla="*/ 982545 w 984490"/>
                <a:gd name="connsiteY1" fmla="*/ 57886 h 304593"/>
                <a:gd name="connsiteX2" fmla="*/ 982545 w 984490"/>
                <a:gd name="connsiteY2" fmla="*/ 248257 h 304593"/>
                <a:gd name="connsiteX3" fmla="*/ 928154 w 984490"/>
                <a:gd name="connsiteY3" fmla="*/ 302649 h 304593"/>
                <a:gd name="connsiteX4" fmla="*/ 57886 w 984490"/>
                <a:gd name="connsiteY4" fmla="*/ 302649 h 304593"/>
                <a:gd name="connsiteX5" fmla="*/ 3494 w 984490"/>
                <a:gd name="connsiteY5" fmla="*/ 248257 h 304593"/>
                <a:gd name="connsiteX6" fmla="*/ 3494 w 984490"/>
                <a:gd name="connsiteY6" fmla="*/ 57886 h 304593"/>
                <a:gd name="connsiteX7" fmla="*/ 57886 w 984490"/>
                <a:gd name="connsiteY7" fmla="*/ 3494 h 3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490" h="304593">
                  <a:moveTo>
                    <a:pt x="928154" y="3494"/>
                  </a:moveTo>
                  <a:cubicBezTo>
                    <a:pt x="958193" y="3494"/>
                    <a:pt x="982545" y="27846"/>
                    <a:pt x="982545" y="57886"/>
                  </a:cubicBezTo>
                  <a:lnTo>
                    <a:pt x="982545" y="248257"/>
                  </a:lnTo>
                  <a:cubicBezTo>
                    <a:pt x="982545" y="278297"/>
                    <a:pt x="958193" y="302649"/>
                    <a:pt x="928154" y="302649"/>
                  </a:cubicBezTo>
                  <a:lnTo>
                    <a:pt x="57886" y="302649"/>
                  </a:lnTo>
                  <a:cubicBezTo>
                    <a:pt x="27846" y="302649"/>
                    <a:pt x="3494" y="278297"/>
                    <a:pt x="3494" y="248257"/>
                  </a:cubicBezTo>
                  <a:lnTo>
                    <a:pt x="3494" y="57886"/>
                  </a:lnTo>
                  <a:cubicBezTo>
                    <a:pt x="3494" y="27846"/>
                    <a:pt x="27846" y="3494"/>
                    <a:pt x="57886" y="3494"/>
                  </a:cubicBezTo>
                  <a:close/>
                </a:path>
              </a:pathLst>
            </a:custGeom>
            <a:solidFill>
              <a:srgbClr val="E8E1F4"/>
            </a:solidFill>
            <a:ln w="8159" cap="flat">
              <a:solidFill>
                <a:srgbClr val="7867A8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 rtl="0"/>
              <a:r>
                <a:rPr lang="en-US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 VLE Data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شكل حر: شكل 63">
              <a:extLst>
                <a:ext uri="{FF2B5EF4-FFF2-40B4-BE49-F238E27FC236}">
                  <a16:creationId xmlns:a16="http://schemas.microsoft.com/office/drawing/2014/main" id="{1C11C9D4-C536-4CFA-A206-867C09CB0EBB}"/>
                </a:ext>
              </a:extLst>
            </p:cNvPr>
            <p:cNvSpPr/>
            <p:nvPr/>
          </p:nvSpPr>
          <p:spPr>
            <a:xfrm>
              <a:off x="8625203" y="4133849"/>
              <a:ext cx="984490" cy="304594"/>
            </a:xfrm>
            <a:custGeom>
              <a:avLst/>
              <a:gdLst>
                <a:gd name="connsiteX0" fmla="*/ 928154 w 984490"/>
                <a:gd name="connsiteY0" fmla="*/ 3494 h 304593"/>
                <a:gd name="connsiteX1" fmla="*/ 982545 w 984490"/>
                <a:gd name="connsiteY1" fmla="*/ 57886 h 304593"/>
                <a:gd name="connsiteX2" fmla="*/ 982545 w 984490"/>
                <a:gd name="connsiteY2" fmla="*/ 248257 h 304593"/>
                <a:gd name="connsiteX3" fmla="*/ 928154 w 984490"/>
                <a:gd name="connsiteY3" fmla="*/ 302649 h 304593"/>
                <a:gd name="connsiteX4" fmla="*/ 57886 w 984490"/>
                <a:gd name="connsiteY4" fmla="*/ 302649 h 304593"/>
                <a:gd name="connsiteX5" fmla="*/ 3494 w 984490"/>
                <a:gd name="connsiteY5" fmla="*/ 248257 h 304593"/>
                <a:gd name="connsiteX6" fmla="*/ 3494 w 984490"/>
                <a:gd name="connsiteY6" fmla="*/ 57886 h 304593"/>
                <a:gd name="connsiteX7" fmla="*/ 57886 w 984490"/>
                <a:gd name="connsiteY7" fmla="*/ 3494 h 3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490" h="304593">
                  <a:moveTo>
                    <a:pt x="928154" y="3494"/>
                  </a:moveTo>
                  <a:cubicBezTo>
                    <a:pt x="958193" y="3494"/>
                    <a:pt x="982545" y="27846"/>
                    <a:pt x="982545" y="57886"/>
                  </a:cubicBezTo>
                  <a:lnTo>
                    <a:pt x="982545" y="248257"/>
                  </a:lnTo>
                  <a:cubicBezTo>
                    <a:pt x="982545" y="278297"/>
                    <a:pt x="958193" y="302649"/>
                    <a:pt x="928154" y="302649"/>
                  </a:cubicBezTo>
                  <a:lnTo>
                    <a:pt x="57886" y="302649"/>
                  </a:lnTo>
                  <a:cubicBezTo>
                    <a:pt x="27846" y="302649"/>
                    <a:pt x="3494" y="278297"/>
                    <a:pt x="3494" y="248257"/>
                  </a:cubicBezTo>
                  <a:lnTo>
                    <a:pt x="3494" y="57886"/>
                  </a:lnTo>
                  <a:cubicBezTo>
                    <a:pt x="3494" y="27846"/>
                    <a:pt x="27846" y="3494"/>
                    <a:pt x="57886" y="3494"/>
                  </a:cubicBezTo>
                  <a:close/>
                </a:path>
              </a:pathLst>
            </a:custGeom>
            <a:solidFill>
              <a:srgbClr val="E8E1F4"/>
            </a:solidFill>
            <a:ln w="8159" cap="flat">
              <a:solidFill>
                <a:srgbClr val="7867A8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Demographics &amp; Assessment</a:t>
              </a:r>
            </a:p>
          </p:txBody>
        </p:sp>
      </p:grpSp>
      <p:cxnSp>
        <p:nvCxnSpPr>
          <p:cNvPr id="71" name="رابط كسهم مستقيم 70">
            <a:extLst>
              <a:ext uri="{FF2B5EF4-FFF2-40B4-BE49-F238E27FC236}">
                <a16:creationId xmlns:a16="http://schemas.microsoft.com/office/drawing/2014/main" id="{954007AF-CDF3-4C53-A7D7-9CD57E79E02A}"/>
              </a:ext>
            </a:extLst>
          </p:cNvPr>
          <p:cNvCxnSpPr>
            <a:cxnSpLocks/>
          </p:cNvCxnSpPr>
          <p:nvPr/>
        </p:nvCxnSpPr>
        <p:spPr>
          <a:xfrm>
            <a:off x="1618488" y="1641963"/>
            <a:ext cx="0" cy="70732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رابط كسهم مستقيم 72">
            <a:extLst>
              <a:ext uri="{FF2B5EF4-FFF2-40B4-BE49-F238E27FC236}">
                <a16:creationId xmlns:a16="http://schemas.microsoft.com/office/drawing/2014/main" id="{2946719B-7282-4810-BA71-EEECBCB6119C}"/>
              </a:ext>
            </a:extLst>
          </p:cNvPr>
          <p:cNvCxnSpPr>
            <a:cxnSpLocks/>
          </p:cNvCxnSpPr>
          <p:nvPr/>
        </p:nvCxnSpPr>
        <p:spPr>
          <a:xfrm>
            <a:off x="3483864" y="162602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رابط كسهم مستقيم 75">
            <a:extLst>
              <a:ext uri="{FF2B5EF4-FFF2-40B4-BE49-F238E27FC236}">
                <a16:creationId xmlns:a16="http://schemas.microsoft.com/office/drawing/2014/main" id="{FB0D2F9C-BF5C-4530-9049-5530E559A0F5}"/>
              </a:ext>
            </a:extLst>
          </p:cNvPr>
          <p:cNvCxnSpPr>
            <a:cxnSpLocks/>
          </p:cNvCxnSpPr>
          <p:nvPr/>
        </p:nvCxnSpPr>
        <p:spPr>
          <a:xfrm>
            <a:off x="5373624" y="164196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رابط كسهم مستقيم 76">
            <a:extLst>
              <a:ext uri="{FF2B5EF4-FFF2-40B4-BE49-F238E27FC236}">
                <a16:creationId xmlns:a16="http://schemas.microsoft.com/office/drawing/2014/main" id="{FB9F4590-462F-4B9C-BE16-E4F2ED205299}"/>
              </a:ext>
            </a:extLst>
          </p:cNvPr>
          <p:cNvCxnSpPr>
            <a:cxnSpLocks/>
          </p:cNvCxnSpPr>
          <p:nvPr/>
        </p:nvCxnSpPr>
        <p:spPr>
          <a:xfrm>
            <a:off x="7248956" y="164196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رابط كسهم مستقيم 77">
            <a:extLst>
              <a:ext uri="{FF2B5EF4-FFF2-40B4-BE49-F238E27FC236}">
                <a16:creationId xmlns:a16="http://schemas.microsoft.com/office/drawing/2014/main" id="{5F1FF810-32E3-4E26-A461-D5F6970D0BB0}"/>
              </a:ext>
            </a:extLst>
          </p:cNvPr>
          <p:cNvCxnSpPr>
            <a:cxnSpLocks/>
          </p:cNvCxnSpPr>
          <p:nvPr/>
        </p:nvCxnSpPr>
        <p:spPr>
          <a:xfrm>
            <a:off x="9209939" y="162602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رابط كسهم مستقيم 78">
            <a:extLst>
              <a:ext uri="{FF2B5EF4-FFF2-40B4-BE49-F238E27FC236}">
                <a16:creationId xmlns:a16="http://schemas.microsoft.com/office/drawing/2014/main" id="{17B56463-DA59-485A-B2E8-0FCC6498C371}"/>
              </a:ext>
            </a:extLst>
          </p:cNvPr>
          <p:cNvCxnSpPr>
            <a:cxnSpLocks/>
          </p:cNvCxnSpPr>
          <p:nvPr/>
        </p:nvCxnSpPr>
        <p:spPr>
          <a:xfrm>
            <a:off x="11063123" y="164196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رابط كسهم مستقيم 79">
            <a:extLst>
              <a:ext uri="{FF2B5EF4-FFF2-40B4-BE49-F238E27FC236}">
                <a16:creationId xmlns:a16="http://schemas.microsoft.com/office/drawing/2014/main" id="{63500F71-41FE-42DE-AC3E-E16432BF506F}"/>
              </a:ext>
            </a:extLst>
          </p:cNvPr>
          <p:cNvCxnSpPr>
            <a:cxnSpLocks/>
          </p:cNvCxnSpPr>
          <p:nvPr/>
        </p:nvCxnSpPr>
        <p:spPr>
          <a:xfrm>
            <a:off x="11058958" y="2369030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رابط كسهم مستقيم 80">
            <a:extLst>
              <a:ext uri="{FF2B5EF4-FFF2-40B4-BE49-F238E27FC236}">
                <a16:creationId xmlns:a16="http://schemas.microsoft.com/office/drawing/2014/main" id="{CD0D48E6-1FBD-4C25-BC82-E81386A52764}"/>
              </a:ext>
            </a:extLst>
          </p:cNvPr>
          <p:cNvCxnSpPr>
            <a:cxnSpLocks/>
          </p:cNvCxnSpPr>
          <p:nvPr/>
        </p:nvCxnSpPr>
        <p:spPr>
          <a:xfrm>
            <a:off x="11068916" y="3105575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رابط كسهم مستقيم 81">
            <a:extLst>
              <a:ext uri="{FF2B5EF4-FFF2-40B4-BE49-F238E27FC236}">
                <a16:creationId xmlns:a16="http://schemas.microsoft.com/office/drawing/2014/main" id="{BEA164FE-512C-4475-B393-71B40C08CB33}"/>
              </a:ext>
            </a:extLst>
          </p:cNvPr>
          <p:cNvCxnSpPr>
            <a:cxnSpLocks/>
          </p:cNvCxnSpPr>
          <p:nvPr/>
        </p:nvCxnSpPr>
        <p:spPr>
          <a:xfrm>
            <a:off x="9230911" y="3089060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رابط كسهم مستقيم 82">
            <a:extLst>
              <a:ext uri="{FF2B5EF4-FFF2-40B4-BE49-F238E27FC236}">
                <a16:creationId xmlns:a16="http://schemas.microsoft.com/office/drawing/2014/main" id="{C2B8A11B-C7BA-441B-BE51-4C35EE1CA292}"/>
              </a:ext>
            </a:extLst>
          </p:cNvPr>
          <p:cNvCxnSpPr>
            <a:cxnSpLocks/>
          </p:cNvCxnSpPr>
          <p:nvPr/>
        </p:nvCxnSpPr>
        <p:spPr>
          <a:xfrm>
            <a:off x="9218901" y="2365798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رابط كسهم مستقيم 84">
            <a:extLst>
              <a:ext uri="{FF2B5EF4-FFF2-40B4-BE49-F238E27FC236}">
                <a16:creationId xmlns:a16="http://schemas.microsoft.com/office/drawing/2014/main" id="{345EB9BD-652A-49DC-B35C-45864266DA52}"/>
              </a:ext>
            </a:extLst>
          </p:cNvPr>
          <p:cNvCxnSpPr>
            <a:cxnSpLocks/>
          </p:cNvCxnSpPr>
          <p:nvPr/>
        </p:nvCxnSpPr>
        <p:spPr>
          <a:xfrm>
            <a:off x="7248956" y="2372663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رابط كسهم مستقيم 85">
            <a:extLst>
              <a:ext uri="{FF2B5EF4-FFF2-40B4-BE49-F238E27FC236}">
                <a16:creationId xmlns:a16="http://schemas.microsoft.com/office/drawing/2014/main" id="{3BFC8124-2406-4EE5-B9FF-77CAC52C9E96}"/>
              </a:ext>
            </a:extLst>
          </p:cNvPr>
          <p:cNvCxnSpPr>
            <a:cxnSpLocks/>
          </p:cNvCxnSpPr>
          <p:nvPr/>
        </p:nvCxnSpPr>
        <p:spPr>
          <a:xfrm>
            <a:off x="7234528" y="3105575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رابط كسهم مستقيم 86">
            <a:extLst>
              <a:ext uri="{FF2B5EF4-FFF2-40B4-BE49-F238E27FC236}">
                <a16:creationId xmlns:a16="http://schemas.microsoft.com/office/drawing/2014/main" id="{764210C1-6233-406B-8488-1B92DCCAD6AF}"/>
              </a:ext>
            </a:extLst>
          </p:cNvPr>
          <p:cNvCxnSpPr>
            <a:cxnSpLocks/>
          </p:cNvCxnSpPr>
          <p:nvPr/>
        </p:nvCxnSpPr>
        <p:spPr>
          <a:xfrm>
            <a:off x="5373624" y="2363830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رابط كسهم مستقيم 87">
            <a:extLst>
              <a:ext uri="{FF2B5EF4-FFF2-40B4-BE49-F238E27FC236}">
                <a16:creationId xmlns:a16="http://schemas.microsoft.com/office/drawing/2014/main" id="{4077AA60-ED68-4040-95CC-6CA930E259FF}"/>
              </a:ext>
            </a:extLst>
          </p:cNvPr>
          <p:cNvCxnSpPr>
            <a:cxnSpLocks/>
          </p:cNvCxnSpPr>
          <p:nvPr/>
        </p:nvCxnSpPr>
        <p:spPr>
          <a:xfrm>
            <a:off x="5373624" y="3089060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رابط كسهم مستقيم 88">
            <a:extLst>
              <a:ext uri="{FF2B5EF4-FFF2-40B4-BE49-F238E27FC236}">
                <a16:creationId xmlns:a16="http://schemas.microsoft.com/office/drawing/2014/main" id="{03802611-F276-4606-9073-1C9AB43B7477}"/>
              </a:ext>
            </a:extLst>
          </p:cNvPr>
          <p:cNvCxnSpPr>
            <a:cxnSpLocks/>
          </p:cNvCxnSpPr>
          <p:nvPr/>
        </p:nvCxnSpPr>
        <p:spPr>
          <a:xfrm>
            <a:off x="3483864" y="2358429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رابط كسهم مستقيم 89">
            <a:extLst>
              <a:ext uri="{FF2B5EF4-FFF2-40B4-BE49-F238E27FC236}">
                <a16:creationId xmlns:a16="http://schemas.microsoft.com/office/drawing/2014/main" id="{4F32DAC0-3230-40FA-905F-7EBBCF052B4C}"/>
              </a:ext>
            </a:extLst>
          </p:cNvPr>
          <p:cNvCxnSpPr>
            <a:cxnSpLocks/>
          </p:cNvCxnSpPr>
          <p:nvPr/>
        </p:nvCxnSpPr>
        <p:spPr>
          <a:xfrm>
            <a:off x="3483864" y="3089060"/>
            <a:ext cx="0" cy="25165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5" name="رسم 94" descr="سهم خطي مستقيم">
            <a:extLst>
              <a:ext uri="{FF2B5EF4-FFF2-40B4-BE49-F238E27FC236}">
                <a16:creationId xmlns:a16="http://schemas.microsoft.com/office/drawing/2014/main" id="{AF109035-B0B6-4F55-9C49-BC6BBF4EF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341278" y="4573935"/>
            <a:ext cx="675048" cy="807378"/>
          </a:xfrm>
          <a:prstGeom prst="rect">
            <a:avLst/>
          </a:prstGeom>
        </p:spPr>
      </p:pic>
      <p:pic>
        <p:nvPicPr>
          <p:cNvPr id="99" name="رسم 98" descr="سهم خطي مستقيم">
            <a:extLst>
              <a:ext uri="{FF2B5EF4-FFF2-40B4-BE49-F238E27FC236}">
                <a16:creationId xmlns:a16="http://schemas.microsoft.com/office/drawing/2014/main" id="{0EE401F8-59CB-4F10-9AC6-CBE15F700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512" y="4553427"/>
            <a:ext cx="675048" cy="807378"/>
          </a:xfrm>
          <a:prstGeom prst="rect">
            <a:avLst/>
          </a:prstGeom>
        </p:spPr>
      </p:pic>
      <p:pic>
        <p:nvPicPr>
          <p:cNvPr id="100" name="رسم 99" descr="سهم خطي مستقيم">
            <a:extLst>
              <a:ext uri="{FF2B5EF4-FFF2-40B4-BE49-F238E27FC236}">
                <a16:creationId xmlns:a16="http://schemas.microsoft.com/office/drawing/2014/main" id="{4E701BA0-427F-435B-A279-6A02A96A4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147548" y="3777313"/>
            <a:ext cx="724589" cy="807378"/>
          </a:xfrm>
          <a:prstGeom prst="rect">
            <a:avLst/>
          </a:prstGeom>
        </p:spPr>
      </p:pic>
      <p:pic>
        <p:nvPicPr>
          <p:cNvPr id="102" name="رسم 101" descr="سهم خطي مستقيم">
            <a:extLst>
              <a:ext uri="{FF2B5EF4-FFF2-40B4-BE49-F238E27FC236}">
                <a16:creationId xmlns:a16="http://schemas.microsoft.com/office/drawing/2014/main" id="{18DDA0D8-7765-4A65-AC28-88DF919C1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905640" y="3777313"/>
            <a:ext cx="724589" cy="807378"/>
          </a:xfrm>
          <a:prstGeom prst="rect">
            <a:avLst/>
          </a:prstGeom>
        </p:spPr>
      </p:pic>
      <p:pic>
        <p:nvPicPr>
          <p:cNvPr id="103" name="رسم 102" descr="سهم خطي مستقيم">
            <a:extLst>
              <a:ext uri="{FF2B5EF4-FFF2-40B4-BE49-F238E27FC236}">
                <a16:creationId xmlns:a16="http://schemas.microsoft.com/office/drawing/2014/main" id="{A1FEDEE0-A4AA-4848-AB3F-6CECCAD8B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847059" y="3787443"/>
            <a:ext cx="724589" cy="807378"/>
          </a:xfrm>
          <a:prstGeom prst="rect">
            <a:avLst/>
          </a:prstGeom>
        </p:spPr>
      </p:pic>
      <p:sp>
        <p:nvSpPr>
          <p:cNvPr id="104" name="سهم: لليمين 103">
            <a:extLst>
              <a:ext uri="{FF2B5EF4-FFF2-40B4-BE49-F238E27FC236}">
                <a16:creationId xmlns:a16="http://schemas.microsoft.com/office/drawing/2014/main" id="{1FA3ABA8-1B1A-4746-ACE9-A818AEA5302D}"/>
              </a:ext>
            </a:extLst>
          </p:cNvPr>
          <p:cNvSpPr/>
          <p:nvPr/>
        </p:nvSpPr>
        <p:spPr>
          <a:xfrm>
            <a:off x="1705708" y="668215"/>
            <a:ext cx="9662746" cy="1174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056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67</Words>
  <Application>Microsoft Office PowerPoint</Application>
  <PresentationFormat>شاشة عريضة</PresentationFormat>
  <Paragraphs>29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ALHARBI ABDULAZIZ HAMEED M</dc:creator>
  <cp:lastModifiedBy>ALHARBI ABDULAZIZ HAMEED M</cp:lastModifiedBy>
  <cp:revision>9</cp:revision>
  <dcterms:created xsi:type="dcterms:W3CDTF">2026-05-15T19:25:49Z</dcterms:created>
  <dcterms:modified xsi:type="dcterms:W3CDTF">2026-05-19T15:27:20Z</dcterms:modified>
</cp:coreProperties>
</file>